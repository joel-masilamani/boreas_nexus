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Inconsolata"/>
      <p:regular r:id="rId201314"/>
    </p:embeddedFont>
    <p:embeddedFont>
      <p:font typeface="Inconsolata Black"/>
      <p:regular r:id="rId201315"/>
    </p:embeddedFont>
    <p:embeddedFont>
      <p:font typeface="Inconsolata Bold"/>
      <p:regular r:id="rId201316"/>
    </p:embeddedFont>
    <p:embeddedFont>
      <p:font typeface="Montserrat"/>
      <p:regular r:id="rId201317"/>
    </p:embeddedFont>
    <p:embeddedFont>
      <p:font typeface="Montserrat Bold"/>
      <p:regular r:id="rId201318"/>
    </p:embeddedFont>
    <p:embeddedFont>
      <p:font typeface="Montserrat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image" Target="../media/image-3-1.png"/><Relationship Id="rId10" Type="http://schemas.openxmlformats.org/officeDocument/2006/relationships/image" Target="../media/image-3-2.svg"/><Relationship Id="rId11" Type="http://schemas.openxmlformats.org/officeDocument/2006/relationships/image" Target="../media/image-3-1.png"/><Relationship Id="rId12" Type="http://schemas.openxmlformats.org/officeDocument/2006/relationships/image" Target="../media/image-3-2.svg"/><Relationship Id="rId13" Type="http://schemas.openxmlformats.org/officeDocument/2006/relationships/image" Target="../media/image-3-1.png"/><Relationship Id="rId14" Type="http://schemas.openxmlformats.org/officeDocument/2006/relationships/image" Target="../media/image-3-2.svg"/><Relationship Id="rId15" Type="http://schemas.openxmlformats.org/officeDocument/2006/relationships/image" Target="../media/image-3-1.png"/><Relationship Id="rId16" Type="http://schemas.openxmlformats.org/officeDocument/2006/relationships/image" Target="../media/image-3-2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5.png"/><Relationship Id="rId8" Type="http://schemas.openxmlformats.org/officeDocument/2006/relationships/image" Target="../media/image-4-6.svg"/><Relationship Id="rId9" Type="http://schemas.openxmlformats.org/officeDocument/2006/relationships/image" Target="../media/image-4-1.png"/><Relationship Id="rId10" Type="http://schemas.openxmlformats.org/officeDocument/2006/relationships/image" Target="../media/image-4-2.svg"/><Relationship Id="rId11" Type="http://schemas.openxmlformats.org/officeDocument/2006/relationships/image" Target="../media/image-4-1.png"/><Relationship Id="rId12" Type="http://schemas.openxmlformats.org/officeDocument/2006/relationships/image" Target="../media/image-4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image" Target="../media/image-11-1.png"/><Relationship Id="rId6" Type="http://schemas.openxmlformats.org/officeDocument/2006/relationships/image" Target="../media/image-11-2.svg"/><Relationship Id="rId7" Type="http://schemas.openxmlformats.org/officeDocument/2006/relationships/image" Target="../media/image-11-1.png"/><Relationship Id="rId8" Type="http://schemas.openxmlformats.org/officeDocument/2006/relationships/image" Target="../media/image-11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8018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BOREAS-NEXUS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17291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Weekly Progress Report — Week 1: Planning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428131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151617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6822" y="2612901"/>
            <a:ext cx="2693789" cy="950342"/>
          </a:xfrm>
          <a:prstGeom prst="roundRect">
            <a:avLst>
              <a:gd name="adj" fmla="val 601"/>
            </a:avLst>
          </a:prstGeom>
          <a:solidFill>
            <a:srgbClr val="151617"/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2736875"/>
            <a:ext cx="24458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3054697"/>
            <a:ext cx="290304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Urban Heat Intelligence Platform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318644" y="2736875"/>
            <a:ext cx="25151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Phase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18644" y="3054697"/>
            <a:ext cx="29723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Week 1 — Planning &amp; Requirement Analysis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41169" y="2736875"/>
            <a:ext cx="25151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Status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41169" y="3054697"/>
            <a:ext cx="25151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Planning Complete — 10 of 10 Deliverables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✔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10133"/>
            <a:ext cx="743992" cy="188565"/>
          </a:xfrm>
          <a:prstGeom prst="roundRect">
            <a:avLst>
              <a:gd name="adj" fmla="val 3031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747340"/>
            <a:ext cx="1052364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CARD 1 OF 10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94825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1. Problem Identification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1521842"/>
            <a:ext cx="4103191" cy="2911525"/>
          </a:xfrm>
          <a:prstGeom prst="roundRect">
            <a:avLst>
              <a:gd name="adj" fmla="val 196"/>
            </a:avLst>
          </a:prstGeom>
          <a:solidFill>
            <a:srgbClr val="151617"/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1645816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1963638"/>
            <a:ext cx="3855244" cy="169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Urban Heat Island (UHI) is a phenomenon where urban regions experience significantly higher temperatures than surrounding rural areas due to rapid urbanization, increased impervious surfaces, reduced vegetation, and anthropogenic activities.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Although satellite imagery and climate datasets are widely available, many existing solutions only identify heat hotspots and lack integrated tools to address the full analytical workflow.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1645816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Gaps in Existing Solutions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1963638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Analyze the causes of heat accumulation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Predict future temperature variations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Simulate cooling interventions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Support planners with data-driven recommendations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28046" y="3011612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Aim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8046" y="3329434"/>
            <a:ext cx="392459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Develop an intelligent platform capable of identifying urban heat hotspots, analyzing contributing factors, predicting thermal patterns, evaluating mitigation strategies, and assisting decision-makers through an interactive web application.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1263"/>
            <a:ext cx="592782" cy="150168"/>
          </a:xfrm>
          <a:prstGeom prst="roundRect">
            <a:avLst>
              <a:gd name="adj" fmla="val 3806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55427" y="370880"/>
            <a:ext cx="931366" cy="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CARD 2 OF 10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22908"/>
            <a:ext cx="8151763" cy="308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2. Objectives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96119" y="949896"/>
            <a:ext cx="8608963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primary objectives established during Week 1 are:</a:t>
            </a:r>
            <a:endParaRPr lang="en-US" sz="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80505"/>
            <a:ext cx="4036516" cy="8463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40260" y="1247998"/>
            <a:ext cx="148233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09228" y="1570062"/>
            <a:ext cx="3810298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Modular Platform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9228" y="1771724"/>
            <a:ext cx="381029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Develop a modular Urban Heat Intelligence platform.</a:t>
            </a:r>
            <a:endParaRPr lang="en-US" sz="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1365" y="1180505"/>
            <a:ext cx="4036516" cy="8463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55507" y="1247998"/>
            <a:ext cx="148233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724474" y="1570062"/>
            <a:ext cx="3810298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Pipeline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724474" y="1771724"/>
            <a:ext cx="381029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Build a data pipeline capable of processing satellite and GIS datasets.</a:t>
            </a:r>
            <a:endParaRPr lang="en-US" sz="7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105620"/>
            <a:ext cx="4036516" cy="84638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440260" y="2173114"/>
            <a:ext cx="148233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09228" y="2495178"/>
            <a:ext cx="3810298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Hotspot Detection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609228" y="2696840"/>
            <a:ext cx="381029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Detect Urban Heat Island hotspots.</a:t>
            </a:r>
            <a:endParaRPr lang="en-US" sz="7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1365" y="2105620"/>
            <a:ext cx="4036516" cy="84638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55507" y="2173114"/>
            <a:ext cx="148233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724474" y="2495178"/>
            <a:ext cx="3810298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Factor Analysis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724474" y="2696840"/>
            <a:ext cx="381029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Analyze environmental and urban factors contributing to heat accumulation.</a:t>
            </a:r>
            <a:endParaRPr lang="en-US" sz="7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030736"/>
            <a:ext cx="4036516" cy="84638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440260" y="3098229"/>
            <a:ext cx="148233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609228" y="3420294"/>
            <a:ext cx="3810298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Thermal Prediction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609228" y="3621956"/>
            <a:ext cx="381029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Predict urban thermal behavior.</a:t>
            </a:r>
            <a:endParaRPr lang="en-US" sz="7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11365" y="3030736"/>
            <a:ext cx="4036516" cy="84638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55507" y="3098229"/>
            <a:ext cx="148233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6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724474" y="3420294"/>
            <a:ext cx="3810298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Cooling Simulation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4724474" y="3621956"/>
            <a:ext cx="381029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Simulate cooling strategies.</a:t>
            </a:r>
            <a:endParaRPr lang="en-US" sz="7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6119" y="3955852"/>
            <a:ext cx="4036516" cy="84638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440260" y="4023345"/>
            <a:ext cx="148233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7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609228" y="4345409"/>
            <a:ext cx="3810298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Decision Support</a:t>
            </a:r>
            <a:endParaRPr lang="en-US" sz="950" dirty="0"/>
          </a:p>
        </p:txBody>
      </p:sp>
      <p:sp>
        <p:nvSpPr>
          <p:cNvPr id="33" name="Text 24"/>
          <p:cNvSpPr/>
          <p:nvPr/>
        </p:nvSpPr>
        <p:spPr>
          <a:xfrm>
            <a:off x="609228" y="4547071"/>
            <a:ext cx="381029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Generate decision-support recommendations for urban planners.</a:t>
            </a:r>
            <a:endParaRPr lang="en-US" sz="75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11365" y="3955852"/>
            <a:ext cx="4036516" cy="84638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555507" y="4023345"/>
            <a:ext cx="148233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8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4724474" y="4345409"/>
            <a:ext cx="3810298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Interactive Dashboard</a:t>
            </a:r>
            <a:endParaRPr lang="en-US" sz="950" dirty="0"/>
          </a:p>
        </p:txBody>
      </p:sp>
      <p:sp>
        <p:nvSpPr>
          <p:cNvPr id="37" name="Text 27"/>
          <p:cNvSpPr/>
          <p:nvPr/>
        </p:nvSpPr>
        <p:spPr>
          <a:xfrm>
            <a:off x="4724474" y="4547071"/>
            <a:ext cx="381029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Present results through an interactive dashboard.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73633"/>
            <a:ext cx="743992" cy="188565"/>
          </a:xfrm>
          <a:prstGeom prst="roundRect">
            <a:avLst>
              <a:gd name="adj" fmla="val 3031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410840"/>
            <a:ext cx="1052364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CARD 3 OF 10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1175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3. Requirement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309315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Functional Requirements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1627138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system should be able to: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6119" y="1937221"/>
            <a:ext cx="3924598" cy="213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Collect satellite and GIS datasets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Preprocess spatial datasets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Generate land surface temperature maps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Detect urban heat hotspots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Analyze factors affecting heat distribution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Predict future thermal conditions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Simulate multiple cooling interventions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Display results on an interactive GIS dashboard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Generate reports and recommendations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1309315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Non-Functional Requirements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1627138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system should: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8046" y="1965127"/>
            <a:ext cx="1900312" cy="87191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923458" y="2103388"/>
            <a:ext cx="156663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modular and scalable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2332" y="1965127"/>
            <a:ext cx="1900312" cy="8719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7743" y="2103388"/>
            <a:ext cx="156663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Support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additional cities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with minimal configuration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8046" y="2961010"/>
            <a:ext cx="1900312" cy="6734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23458" y="3099271"/>
            <a:ext cx="156663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Produce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reproducible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analytical results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52332" y="2961010"/>
            <a:ext cx="1900312" cy="67344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47743" y="3099271"/>
            <a:ext cx="156663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Provide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responsive visualization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8046" y="3758431"/>
            <a:ext cx="1900312" cy="87191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23458" y="3896692"/>
            <a:ext cx="156663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Maintain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organized data storage</a:t>
            </a:r>
            <a:endParaRPr lang="en-US" sz="9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52332" y="3758431"/>
            <a:ext cx="1900312" cy="87191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47743" y="3896692"/>
            <a:ext cx="156663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Support future integration of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advanced AI models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7863"/>
            <a:ext cx="662434" cy="167878"/>
          </a:xfrm>
          <a:prstGeom prst="roundRect">
            <a:avLst>
              <a:gd name="adj" fmla="val 3404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62347" y="440978"/>
            <a:ext cx="987177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CARD 4 OF 10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15032"/>
            <a:ext cx="8151763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4. Literature Survey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496119" y="1107877"/>
            <a:ext cx="86089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preliminary literature survey was conducted to understand existing Urban Heat Island research and current software solutions.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1484040"/>
            <a:ext cx="394111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Research Papers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6119" y="1767334"/>
            <a:ext cx="3941118" cy="2003375"/>
          </a:xfrm>
          <a:prstGeom prst="roundRect">
            <a:avLst>
              <a:gd name="adj" fmla="val 28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6119" y="2069157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2535734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3002310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6119" y="3301752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1386" y="1835869"/>
            <a:ext cx="1808931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Source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183978" y="1835869"/>
            <a:ext cx="259526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Contribution to Project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11386" y="2135312"/>
            <a:ext cx="1351731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Asfa Siddiqui (Indian Cities)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83978" y="2135312"/>
            <a:ext cx="2138065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pipeline &amp; scientific methodology for measuring UHI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11386" y="2601888"/>
            <a:ext cx="1351731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UHI Mitigation Review (2026)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83978" y="2601888"/>
            <a:ext cx="2138065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Knowledge base of interventions that work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1386" y="3068464"/>
            <a:ext cx="1808931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Machine Learning for UHI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83978" y="3068464"/>
            <a:ext cx="259526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AI-based prediction engine for LST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1386" y="3367906"/>
            <a:ext cx="1351731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Earth / Remote Sensing Paper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83978" y="3367906"/>
            <a:ext cx="2138065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Environmental variables affecting temperature — feature engineering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11526" y="1484040"/>
            <a:ext cx="394111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Areas Studied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11526" y="1755056"/>
            <a:ext cx="3941118" cy="1376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Urban Heat Island phenomenon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Remote sensing techniques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Land Surface Temperature estimation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Vegetation indices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GIS-based spatial analysis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Machine Learning for environmental prediction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Explainable AI for environmental decision support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6119" y="3992017"/>
            <a:ext cx="8151763" cy="743545"/>
          </a:xfrm>
          <a:prstGeom prst="roundRect">
            <a:avLst>
              <a:gd name="adj" fmla="val 769"/>
            </a:avLst>
          </a:prstGeom>
          <a:solidFill>
            <a:srgbClr val="E4E6E7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549" y="4142929"/>
            <a:ext cx="138038" cy="11043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55018" y="4118000"/>
            <a:ext cx="7682433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Existing solutions generally focus on one or two aspects of UHI analysis. Few systems provide a unified workflow combining data acquisition, hotspot identification, driver analysis, prediction, scenario simulation, and decision support — confirming the opportunity for an integrated platform.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9866"/>
            <a:ext cx="720477" cy="182538"/>
          </a:xfrm>
          <a:prstGeom prst="roundRect">
            <a:avLst>
              <a:gd name="adj" fmla="val 3131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68151" y="395883"/>
            <a:ext cx="1033611" cy="11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CARD 5 OF 10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588913"/>
            <a:ext cx="8151763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5. Technology Selection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96119" y="1138982"/>
            <a:ext cx="815176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Technologies were selected based on scalability, open-source availability, strong community support, and compatibility with geospatial workflows.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6119" y="1648346"/>
            <a:ext cx="4017690" cy="696516"/>
          </a:xfrm>
          <a:prstGeom prst="roundRect">
            <a:avLst>
              <a:gd name="adj" fmla="val 821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5240" dir="2700000">
              <a:srgbClr val="151617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0985" y="1773213"/>
            <a:ext cx="376795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Frontend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0985" y="2030760"/>
            <a:ext cx="37679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30192" y="1648346"/>
            <a:ext cx="4017690" cy="696516"/>
          </a:xfrm>
          <a:prstGeom prst="roundRect">
            <a:avLst>
              <a:gd name="adj" fmla="val 821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5240" dir="2700000">
              <a:srgbClr val="151617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5059" y="1773213"/>
            <a:ext cx="376795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Backend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5059" y="2030760"/>
            <a:ext cx="37679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FastAPI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6119" y="2461245"/>
            <a:ext cx="4017690" cy="696516"/>
          </a:xfrm>
          <a:prstGeom prst="roundRect">
            <a:avLst>
              <a:gd name="adj" fmla="val 821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5240" dir="2700000">
              <a:srgbClr val="151617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0985" y="2586112"/>
            <a:ext cx="376795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0985" y="2843659"/>
            <a:ext cx="37679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PostgreSQL + PostGIS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30192" y="2461245"/>
            <a:ext cx="4017690" cy="696516"/>
          </a:xfrm>
          <a:prstGeom prst="roundRect">
            <a:avLst>
              <a:gd name="adj" fmla="val 821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5240" dir="2700000">
              <a:srgbClr val="151617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5059" y="2586112"/>
            <a:ext cx="376795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GIS Processing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5059" y="2843659"/>
            <a:ext cx="37679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GDAL, Rasterio, GeoPandas, Shapely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6119" y="3274144"/>
            <a:ext cx="4017690" cy="696516"/>
          </a:xfrm>
          <a:prstGeom prst="roundRect">
            <a:avLst>
              <a:gd name="adj" fmla="val 821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5240" dir="2700000">
              <a:srgbClr val="151617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0985" y="3399011"/>
            <a:ext cx="376795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0985" y="3656558"/>
            <a:ext cx="37679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Scikit-learn, XGBoost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30192" y="3274144"/>
            <a:ext cx="4017690" cy="696516"/>
          </a:xfrm>
          <a:prstGeom prst="roundRect">
            <a:avLst>
              <a:gd name="adj" fmla="val 821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5240" dir="2700000">
              <a:srgbClr val="151617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5059" y="3399011"/>
            <a:ext cx="376795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Analysis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5059" y="3656558"/>
            <a:ext cx="37679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NumPy, Pandas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6119" y="4087044"/>
            <a:ext cx="4017690" cy="696516"/>
          </a:xfrm>
          <a:prstGeom prst="roundRect">
            <a:avLst>
              <a:gd name="adj" fmla="val 821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5240" dir="2700000">
              <a:srgbClr val="151617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0985" y="4211910"/>
            <a:ext cx="376795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0985" y="4469457"/>
            <a:ext cx="37679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MapLibre GL, Leaflet, Plotly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30192" y="4087044"/>
            <a:ext cx="4017690" cy="696516"/>
          </a:xfrm>
          <a:prstGeom prst="roundRect">
            <a:avLst>
              <a:gd name="adj" fmla="val 821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5240" dir="2700000">
              <a:srgbClr val="151617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5059" y="4211910"/>
            <a:ext cx="376795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DevOps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55059" y="4469457"/>
            <a:ext cx="37679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Git &amp; GitHub, Docker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96119"/>
            <a:ext cx="743992" cy="188565"/>
          </a:xfrm>
          <a:prstGeom prst="roundRect">
            <a:avLst>
              <a:gd name="adj" fmla="val 3031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1133326"/>
            <a:ext cx="1052364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CARD 6 OF 10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33424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6. System Scope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1907828"/>
            <a:ext cx="4103191" cy="2139479"/>
          </a:xfrm>
          <a:prstGeom prst="roundRect">
            <a:avLst>
              <a:gd name="adj" fmla="val 267"/>
            </a:avLst>
          </a:prstGeom>
          <a:solidFill>
            <a:srgbClr val="151617"/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2031802"/>
            <a:ext cx="3855244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Included in Scope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354387"/>
            <a:ext cx="3855244" cy="164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Satellite data processing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GIS analysis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Heat hotspot detection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Driver analysis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Heat prediction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Cooling scenario simulation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Decision support dashboard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031802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✗ Excluded from Initial Scope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2349624"/>
            <a:ext cx="3924598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Real-time IoT sensor integration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Mobile application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Live satellite streaming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Cloud-scale distributed processing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Multi-city simultaneous processing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28046" y="3627090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These may be considered as future enhancements.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64331"/>
            <a:ext cx="592782" cy="150168"/>
          </a:xfrm>
          <a:prstGeom prst="roundRect">
            <a:avLst>
              <a:gd name="adj" fmla="val 3806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55427" y="393948"/>
            <a:ext cx="931366" cy="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CARD 7 OF 10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45976"/>
            <a:ext cx="8151763" cy="308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7. Preliminary System Modules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96119" y="972964"/>
            <a:ext cx="8608963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project was divided into independent modules to simplify development and future maintenance.</a:t>
            </a:r>
            <a:endParaRPr lang="en-US" sz="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03573"/>
            <a:ext cx="2717229" cy="3953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940" y="1677665"/>
            <a:ext cx="251958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Module 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940" y="1879327"/>
            <a:ext cx="2519586" cy="473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350"/>
              </a:spcAft>
              <a:buNone/>
            </a:pPr>
            <a:r>
              <a:rPr lang="en-US" sz="7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 Collection &amp; Preprocessing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Satellite image acquisition, GIS &amp; weather data, preprocessing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203573"/>
            <a:ext cx="2717229" cy="3953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12170" y="1677665"/>
            <a:ext cx="251958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Module 2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312170" y="1879327"/>
            <a:ext cx="2519586" cy="33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350"/>
              </a:spcAft>
              <a:buNone/>
            </a:pPr>
            <a:r>
              <a:rPr lang="en-US" sz="7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Heat Hotspot Identification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LST analysis, urban masking, hotspot generation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203573"/>
            <a:ext cx="2717229" cy="3953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29399" y="1677665"/>
            <a:ext cx="251958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Module 3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6029399" y="1879327"/>
            <a:ext cx="2519586" cy="473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350"/>
              </a:spcAft>
              <a:buNone/>
            </a:pPr>
            <a:r>
              <a:rPr lang="en-US" sz="7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Heat Driver Analysis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Feature extraction, statistical &amp; importance analysis</a:t>
            </a:r>
            <a:endParaRPr lang="en-US" sz="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451571"/>
            <a:ext cx="2717229" cy="3953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4940" y="2925663"/>
            <a:ext cx="251958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Module 4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594940" y="3127325"/>
            <a:ext cx="2519586" cy="473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350"/>
              </a:spcAft>
              <a:buNone/>
            </a:pPr>
            <a:r>
              <a:rPr lang="en-US" sz="7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Heat Prediction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Temperature forecasting, physics-guided prediction, scenario evaluation</a:t>
            </a:r>
            <a:endParaRPr lang="en-US" sz="7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3348" y="2451571"/>
            <a:ext cx="2717229" cy="39536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312170" y="2925663"/>
            <a:ext cx="251958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Module 5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3312170" y="3127325"/>
            <a:ext cx="2519586" cy="473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350"/>
              </a:spcAft>
              <a:buNone/>
            </a:pPr>
            <a:r>
              <a:rPr lang="en-US" sz="7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Decision Support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Intervention ranking, recommendation &amp; report generation</a:t>
            </a:r>
            <a:endParaRPr lang="en-US" sz="750" dirty="0"/>
          </a:p>
        </p:txBody>
      </p:sp>
      <p:sp>
        <p:nvSpPr>
          <p:cNvPr id="21" name="Text 14"/>
          <p:cNvSpPr/>
          <p:nvPr/>
        </p:nvSpPr>
        <p:spPr>
          <a:xfrm>
            <a:off x="496119" y="3817665"/>
            <a:ext cx="8151763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Frontend Dashboard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496119" y="4090169"/>
            <a:ext cx="8151763" cy="688925"/>
          </a:xfrm>
          <a:prstGeom prst="roundRect">
            <a:avLst>
              <a:gd name="adj" fmla="val 830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2700" dir="2700000">
              <a:srgbClr val="151617">
                <a:alpha val="10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00881" y="4094931"/>
            <a:ext cx="2035522" cy="339700"/>
          </a:xfrm>
          <a:custGeom>
            <a:avLst/>
            <a:gdLst/>
            <a:ahLst/>
            <a:cxnLst/>
            <a:rect l="l" t="t" r="r" b="b"/>
            <a:pathLst>
              <a:path w="2035522" h="339700">
                <a:moveTo>
                  <a:pt x="4763" y="0"/>
                </a:moveTo>
                <a:lnTo>
                  <a:pt x="2035522" y="0"/>
                </a:lnTo>
                <a:lnTo>
                  <a:pt x="2035522" y="339700"/>
                </a:lnTo>
                <a:lnTo>
                  <a:pt x="0" y="339700"/>
                </a:lnTo>
                <a:lnTo>
                  <a:pt x="0" y="4763"/>
                </a:lnTo>
                <a:arcTo hR="4763" wR="4763" stAng="10800000" swAng="5400000"/>
                <a:close/>
              </a:path>
            </a:pathLst>
          </a:custGeom>
          <a:solidFill>
            <a:srgbClr val="F8ECE4"/>
          </a:solidFill>
          <a:ln/>
        </p:spPr>
      </p:sp>
      <p:sp>
        <p:nvSpPr>
          <p:cNvPr id="24" name="Text 17"/>
          <p:cNvSpPr/>
          <p:nvPr/>
        </p:nvSpPr>
        <p:spPr>
          <a:xfrm>
            <a:off x="599703" y="4193753"/>
            <a:ext cx="183787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Interactive Maps</a:t>
            </a:r>
            <a:endParaRPr lang="en-US" sz="750" dirty="0"/>
          </a:p>
        </p:txBody>
      </p:sp>
      <p:sp>
        <p:nvSpPr>
          <p:cNvPr id="25" name="Shape 18"/>
          <p:cNvSpPr/>
          <p:nvPr/>
        </p:nvSpPr>
        <p:spPr>
          <a:xfrm>
            <a:off x="2536403" y="4094931"/>
            <a:ext cx="2035597" cy="3397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26" name="Shape 19"/>
          <p:cNvSpPr/>
          <p:nvPr/>
        </p:nvSpPr>
        <p:spPr>
          <a:xfrm>
            <a:off x="2536403" y="4094931"/>
            <a:ext cx="14288" cy="339700"/>
          </a:xfrm>
          <a:prstGeom prst="roundRect">
            <a:avLst>
              <a:gd name="adj" fmla="val 39999"/>
            </a:avLst>
          </a:prstGeom>
          <a:solidFill>
            <a:srgbClr val="2E2F30"/>
          </a:solidFill>
          <a:ln/>
        </p:spPr>
      </p:sp>
      <p:sp>
        <p:nvSpPr>
          <p:cNvPr id="27" name="Text 20"/>
          <p:cNvSpPr/>
          <p:nvPr/>
        </p:nvSpPr>
        <p:spPr>
          <a:xfrm>
            <a:off x="2635225" y="4193753"/>
            <a:ext cx="1837953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Layer Visualization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4572000" y="4094931"/>
            <a:ext cx="2035522" cy="3397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29" name="Shape 22"/>
          <p:cNvSpPr/>
          <p:nvPr/>
        </p:nvSpPr>
        <p:spPr>
          <a:xfrm>
            <a:off x="4572000" y="4094931"/>
            <a:ext cx="14288" cy="339700"/>
          </a:xfrm>
          <a:prstGeom prst="roundRect">
            <a:avLst>
              <a:gd name="adj" fmla="val 39999"/>
            </a:avLst>
          </a:prstGeom>
          <a:solidFill>
            <a:srgbClr val="2E2F30"/>
          </a:solidFill>
          <a:ln/>
        </p:spPr>
      </p:sp>
      <p:sp>
        <p:nvSpPr>
          <p:cNvPr id="30" name="Text 23"/>
          <p:cNvSpPr/>
          <p:nvPr/>
        </p:nvSpPr>
        <p:spPr>
          <a:xfrm>
            <a:off x="4670822" y="4193753"/>
            <a:ext cx="183787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Charts</a:t>
            </a:r>
            <a:endParaRPr lang="en-US" sz="750" dirty="0"/>
          </a:p>
        </p:txBody>
      </p:sp>
      <p:sp>
        <p:nvSpPr>
          <p:cNvPr id="31" name="Shape 24"/>
          <p:cNvSpPr/>
          <p:nvPr/>
        </p:nvSpPr>
        <p:spPr>
          <a:xfrm>
            <a:off x="6607522" y="4094931"/>
            <a:ext cx="2035597" cy="339700"/>
          </a:xfrm>
          <a:custGeom>
            <a:avLst/>
            <a:gdLst/>
            <a:ahLst/>
            <a:cxnLst/>
            <a:rect l="l" t="t" r="r" b="b"/>
            <a:pathLst>
              <a:path w="2035597" h="339700">
                <a:moveTo>
                  <a:pt x="0" y="0"/>
                </a:moveTo>
                <a:lnTo>
                  <a:pt x="2030834" y="0"/>
                </a:lnTo>
                <a:arcTo hR="4763" wR="4763" stAng="16200000" swAng="5400000"/>
                <a:lnTo>
                  <a:pt x="2035597" y="339700"/>
                </a:lnTo>
                <a:lnTo>
                  <a:pt x="0" y="339700"/>
                </a:lnTo>
                <a:lnTo>
                  <a:pt x="0" y="0"/>
                </a:lnTo>
                <a:close/>
              </a:path>
            </a:pathLst>
          </a:custGeom>
          <a:solidFill>
            <a:srgbClr val="F8ECE4"/>
          </a:solidFill>
          <a:ln/>
        </p:spPr>
      </p:sp>
      <p:sp>
        <p:nvSpPr>
          <p:cNvPr id="32" name="Shape 25"/>
          <p:cNvSpPr/>
          <p:nvPr/>
        </p:nvSpPr>
        <p:spPr>
          <a:xfrm>
            <a:off x="6607522" y="4094931"/>
            <a:ext cx="14288" cy="339700"/>
          </a:xfrm>
          <a:prstGeom prst="roundRect">
            <a:avLst>
              <a:gd name="adj" fmla="val 39999"/>
            </a:avLst>
          </a:prstGeom>
          <a:solidFill>
            <a:srgbClr val="2E2F30"/>
          </a:solidFill>
          <a:ln/>
        </p:spPr>
      </p:sp>
      <p:sp>
        <p:nvSpPr>
          <p:cNvPr id="33" name="Text 26"/>
          <p:cNvSpPr/>
          <p:nvPr/>
        </p:nvSpPr>
        <p:spPr>
          <a:xfrm>
            <a:off x="6706344" y="4193753"/>
            <a:ext cx="1837953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Simulation Interface</a:t>
            </a:r>
            <a:endParaRPr lang="en-US" sz="750" dirty="0"/>
          </a:p>
        </p:txBody>
      </p:sp>
      <p:sp>
        <p:nvSpPr>
          <p:cNvPr id="34" name="Shape 27"/>
          <p:cNvSpPr/>
          <p:nvPr/>
        </p:nvSpPr>
        <p:spPr>
          <a:xfrm>
            <a:off x="500881" y="4434632"/>
            <a:ext cx="8142238" cy="339700"/>
          </a:xfrm>
          <a:custGeom>
            <a:avLst/>
            <a:gdLst/>
            <a:ahLst/>
            <a:cxnLst/>
            <a:rect l="l" t="t" r="r" b="b"/>
            <a:pathLst>
              <a:path w="8142238" h="339700">
                <a:moveTo>
                  <a:pt x="0" y="0"/>
                </a:moveTo>
                <a:lnTo>
                  <a:pt x="8142238" y="0"/>
                </a:lnTo>
                <a:lnTo>
                  <a:pt x="8142238" y="334938"/>
                </a:lnTo>
                <a:arcTo hR="4763" wR="4763" stAng="0" swAng="5400000"/>
                <a:lnTo>
                  <a:pt x="4763" y="339700"/>
                </a:lnTo>
                <a:arcTo hR="4763" wR="4763" stAng="5400000" swAng="5400000"/>
                <a:lnTo>
                  <a:pt x="0" y="0"/>
                </a:lnTo>
                <a:close/>
              </a:path>
            </a:pathLst>
          </a:custGeom>
          <a:solidFill>
            <a:srgbClr val="F8ECE4"/>
          </a:solidFill>
          <a:ln/>
        </p:spPr>
      </p:sp>
      <p:sp>
        <p:nvSpPr>
          <p:cNvPr id="35" name="Shape 28"/>
          <p:cNvSpPr/>
          <p:nvPr/>
        </p:nvSpPr>
        <p:spPr>
          <a:xfrm>
            <a:off x="500881" y="4434632"/>
            <a:ext cx="8142238" cy="14288"/>
          </a:xfrm>
          <a:prstGeom prst="roundRect">
            <a:avLst>
              <a:gd name="adj" fmla="val 39999"/>
            </a:avLst>
          </a:prstGeom>
          <a:solidFill>
            <a:srgbClr val="2E2F30"/>
          </a:solidFill>
          <a:ln/>
        </p:spPr>
      </p:sp>
      <p:sp>
        <p:nvSpPr>
          <p:cNvPr id="36" name="Text 29"/>
          <p:cNvSpPr/>
          <p:nvPr/>
        </p:nvSpPr>
        <p:spPr>
          <a:xfrm>
            <a:off x="599703" y="4533454"/>
            <a:ext cx="7944594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Decision Support Interface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12837"/>
            <a:ext cx="743992" cy="188565"/>
          </a:xfrm>
          <a:prstGeom prst="roundRect">
            <a:avLst>
              <a:gd name="adj" fmla="val 3031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950044"/>
            <a:ext cx="1052364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CARD 8 OF 10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15096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8. Project Architecture Planning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724546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modular service-oriented architecture was selected. This architecture ensures that each module can be developed, tested, and improved independently.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6119" y="2260997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2457450"/>
            <a:ext cx="2634555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2548012"/>
            <a:ext cx="26345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Satellite &amp; GIS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54648" y="2260997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4648" y="2457450"/>
            <a:ext cx="2634630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1" name="Text 9"/>
          <p:cNvSpPr/>
          <p:nvPr/>
        </p:nvSpPr>
        <p:spPr>
          <a:xfrm>
            <a:off x="3254648" y="2548012"/>
            <a:ext cx="263463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13252" y="2260997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13252" y="2457450"/>
            <a:ext cx="2634555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4" name="Text 12"/>
          <p:cNvSpPr/>
          <p:nvPr/>
        </p:nvSpPr>
        <p:spPr>
          <a:xfrm>
            <a:off x="6013252" y="2548012"/>
            <a:ext cx="26345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295885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3155305"/>
            <a:ext cx="2634555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245867"/>
            <a:ext cx="26345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Heat Hotspot Detection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54648" y="295885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54648" y="3155305"/>
            <a:ext cx="2634630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0" name="Text 18"/>
          <p:cNvSpPr/>
          <p:nvPr/>
        </p:nvSpPr>
        <p:spPr>
          <a:xfrm>
            <a:off x="3254648" y="3245867"/>
            <a:ext cx="263463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Heat Driver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13252" y="295885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13252" y="3155305"/>
            <a:ext cx="2634555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3" name="Text 21"/>
          <p:cNvSpPr/>
          <p:nvPr/>
        </p:nvSpPr>
        <p:spPr>
          <a:xfrm>
            <a:off x="6013252" y="3245867"/>
            <a:ext cx="26345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Heat Prediction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6119" y="3656707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07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6119" y="3853160"/>
            <a:ext cx="2634555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6" name="Text 24"/>
          <p:cNvSpPr/>
          <p:nvPr/>
        </p:nvSpPr>
        <p:spPr>
          <a:xfrm>
            <a:off x="496119" y="3943722"/>
            <a:ext cx="26345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Cooling Simulation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54648" y="3656707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08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54648" y="3853160"/>
            <a:ext cx="2634630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9" name="Text 27"/>
          <p:cNvSpPr/>
          <p:nvPr/>
        </p:nvSpPr>
        <p:spPr>
          <a:xfrm>
            <a:off x="3254648" y="3943722"/>
            <a:ext cx="263463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Decision Support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13252" y="3656707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09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13252" y="3853160"/>
            <a:ext cx="2634555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32" name="Text 30"/>
          <p:cNvSpPr/>
          <p:nvPr/>
        </p:nvSpPr>
        <p:spPr>
          <a:xfrm>
            <a:off x="6013252" y="3943722"/>
            <a:ext cx="26345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Web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8785"/>
            <a:ext cx="500063" cy="126653"/>
          </a:xfrm>
          <a:prstGeom prst="roundRect">
            <a:avLst>
              <a:gd name="adj" fmla="val 4512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46125" y="423788"/>
            <a:ext cx="857250" cy="76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CARD 9 OF 10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47836"/>
            <a:ext cx="8151763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9. Deliverables Completed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6119" y="892225"/>
            <a:ext cx="8608963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All 10 planned Week 1 deliverables have been completed.</a:t>
            </a:r>
            <a:endParaRPr lang="en-US" sz="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77069"/>
            <a:ext cx="83344" cy="83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6119" y="1198811"/>
            <a:ext cx="4047902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8" name="Text 5"/>
          <p:cNvSpPr/>
          <p:nvPr/>
        </p:nvSpPr>
        <p:spPr>
          <a:xfrm>
            <a:off x="496119" y="1259532"/>
            <a:ext cx="404790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Problem Statement</a:t>
            </a:r>
            <a:endParaRPr lang="en-US" sz="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9980" y="1077069"/>
            <a:ext cx="83344" cy="833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99980" y="1198811"/>
            <a:ext cx="4047902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1" name="Text 7"/>
          <p:cNvSpPr/>
          <p:nvPr/>
        </p:nvSpPr>
        <p:spPr>
          <a:xfrm>
            <a:off x="4599980" y="1259532"/>
            <a:ext cx="404790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Requirement Analysis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1518642"/>
            <a:ext cx="83344" cy="8334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96119" y="1640384"/>
            <a:ext cx="4047902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4" name="Text 9"/>
          <p:cNvSpPr/>
          <p:nvPr/>
        </p:nvSpPr>
        <p:spPr>
          <a:xfrm>
            <a:off x="496119" y="1701105"/>
            <a:ext cx="404790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Literature Survey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99980" y="1518642"/>
            <a:ext cx="83344" cy="833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599980" y="1640384"/>
            <a:ext cx="4047902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7" name="Text 11"/>
          <p:cNvSpPr/>
          <p:nvPr/>
        </p:nvSpPr>
        <p:spPr>
          <a:xfrm>
            <a:off x="4599980" y="1701105"/>
            <a:ext cx="404790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Technology Stack Selection</a:t>
            </a:r>
            <a:endParaRPr lang="en-US" sz="8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1960215"/>
            <a:ext cx="83344" cy="83344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96119" y="2081957"/>
            <a:ext cx="4047902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0" name="Text 13"/>
          <p:cNvSpPr/>
          <p:nvPr/>
        </p:nvSpPr>
        <p:spPr>
          <a:xfrm>
            <a:off x="496119" y="2142679"/>
            <a:ext cx="404790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Scope Definition</a:t>
            </a:r>
            <a:endParaRPr lang="en-US" sz="8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99980" y="1960215"/>
            <a:ext cx="83344" cy="833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4599980" y="2081957"/>
            <a:ext cx="4047902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3" name="Text 15"/>
          <p:cNvSpPr/>
          <p:nvPr/>
        </p:nvSpPr>
        <p:spPr>
          <a:xfrm>
            <a:off x="4599980" y="2142679"/>
            <a:ext cx="404790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Preliminary System Architecture</a:t>
            </a:r>
            <a:endParaRPr lang="en-US" sz="8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6119" y="2401788"/>
            <a:ext cx="83344" cy="83344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496119" y="2523530"/>
            <a:ext cx="4047902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6" name="Text 17"/>
          <p:cNvSpPr/>
          <p:nvPr/>
        </p:nvSpPr>
        <p:spPr>
          <a:xfrm>
            <a:off x="496119" y="2584252"/>
            <a:ext cx="404790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Module Breakdown</a:t>
            </a:r>
            <a:endParaRPr lang="en-US" sz="8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99980" y="2401788"/>
            <a:ext cx="83344" cy="8334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4599980" y="2523530"/>
            <a:ext cx="4047902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9" name="Text 19"/>
          <p:cNvSpPr/>
          <p:nvPr/>
        </p:nvSpPr>
        <p:spPr>
          <a:xfrm>
            <a:off x="4599980" y="2584252"/>
            <a:ext cx="404790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Initial UI Planning</a:t>
            </a:r>
            <a:endParaRPr lang="en-US" sz="8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6119" y="2843361"/>
            <a:ext cx="83344" cy="83344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496119" y="2965103"/>
            <a:ext cx="4047902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32" name="Text 21"/>
          <p:cNvSpPr/>
          <p:nvPr/>
        </p:nvSpPr>
        <p:spPr>
          <a:xfrm>
            <a:off x="496119" y="3025825"/>
            <a:ext cx="404790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Development Roadmap</a:t>
            </a:r>
            <a:endParaRPr lang="en-US" sz="8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99980" y="2843361"/>
            <a:ext cx="83344" cy="83344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4599980" y="2965103"/>
            <a:ext cx="4047902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35" name="Text 23"/>
          <p:cNvSpPr/>
          <p:nvPr/>
        </p:nvSpPr>
        <p:spPr>
          <a:xfrm>
            <a:off x="4599980" y="3025825"/>
            <a:ext cx="404790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GitHub Repository Setup</a:t>
            </a:r>
            <a:endParaRPr lang="en-US" sz="800" dirty="0"/>
          </a:p>
        </p:txBody>
      </p:sp>
      <p:sp>
        <p:nvSpPr>
          <p:cNvPr id="36" name="Text 24"/>
          <p:cNvSpPr/>
          <p:nvPr/>
        </p:nvSpPr>
        <p:spPr>
          <a:xfrm>
            <a:off x="496119" y="3323183"/>
            <a:ext cx="404090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10</a:t>
            </a:r>
            <a:endParaRPr lang="en-US" sz="2150" dirty="0"/>
          </a:p>
        </p:txBody>
      </p:sp>
      <p:sp>
        <p:nvSpPr>
          <p:cNvPr id="37" name="Text 25"/>
          <p:cNvSpPr/>
          <p:nvPr/>
        </p:nvSpPr>
        <p:spPr>
          <a:xfrm>
            <a:off x="496119" y="3681859"/>
            <a:ext cx="404090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8" name="Text 26"/>
          <p:cNvSpPr/>
          <p:nvPr/>
        </p:nvSpPr>
        <p:spPr>
          <a:xfrm>
            <a:off x="496119" y="3845644"/>
            <a:ext cx="4040907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Completed this week</a:t>
            </a:r>
            <a:endParaRPr lang="en-US" sz="650" dirty="0"/>
          </a:p>
        </p:txBody>
      </p:sp>
      <p:sp>
        <p:nvSpPr>
          <p:cNvPr id="39" name="Text 27"/>
          <p:cNvSpPr/>
          <p:nvPr/>
        </p:nvSpPr>
        <p:spPr>
          <a:xfrm>
            <a:off x="4606975" y="3323183"/>
            <a:ext cx="404090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</a:t>
            </a:r>
            <a:endParaRPr lang="en-US" sz="2150" dirty="0"/>
          </a:p>
        </p:txBody>
      </p:sp>
      <p:sp>
        <p:nvSpPr>
          <p:cNvPr id="40" name="Text 28"/>
          <p:cNvSpPr/>
          <p:nvPr/>
        </p:nvSpPr>
        <p:spPr>
          <a:xfrm>
            <a:off x="4606975" y="3681859"/>
            <a:ext cx="404090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Core Modules</a:t>
            </a:r>
            <a:endParaRPr lang="en-US" sz="800" dirty="0"/>
          </a:p>
        </p:txBody>
      </p:sp>
      <p:sp>
        <p:nvSpPr>
          <p:cNvPr id="41" name="Text 29"/>
          <p:cNvSpPr/>
          <p:nvPr/>
        </p:nvSpPr>
        <p:spPr>
          <a:xfrm>
            <a:off x="4606975" y="3845644"/>
            <a:ext cx="4040907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Defined &amp; scoped</a:t>
            </a:r>
            <a:endParaRPr lang="en-US" sz="650" dirty="0"/>
          </a:p>
        </p:txBody>
      </p:sp>
      <p:sp>
        <p:nvSpPr>
          <p:cNvPr id="42" name="Text 30"/>
          <p:cNvSpPr/>
          <p:nvPr/>
        </p:nvSpPr>
        <p:spPr>
          <a:xfrm>
            <a:off x="496119" y="4110782"/>
            <a:ext cx="404090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</a:t>
            </a:r>
            <a:endParaRPr lang="en-US" sz="2150" dirty="0"/>
          </a:p>
        </p:txBody>
      </p:sp>
      <p:sp>
        <p:nvSpPr>
          <p:cNvPr id="43" name="Text 31"/>
          <p:cNvSpPr/>
          <p:nvPr/>
        </p:nvSpPr>
        <p:spPr>
          <a:xfrm>
            <a:off x="496119" y="4469457"/>
            <a:ext cx="404090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Architecture Steps</a:t>
            </a:r>
            <a:endParaRPr lang="en-US" sz="800" dirty="0"/>
          </a:p>
        </p:txBody>
      </p:sp>
      <p:sp>
        <p:nvSpPr>
          <p:cNvPr id="44" name="Text 32"/>
          <p:cNvSpPr/>
          <p:nvPr/>
        </p:nvSpPr>
        <p:spPr>
          <a:xfrm>
            <a:off x="496119" y="4633243"/>
            <a:ext cx="4040907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 the data pipeline</a:t>
            </a:r>
            <a:endParaRPr lang="en-US" sz="650" dirty="0"/>
          </a:p>
        </p:txBody>
      </p:sp>
      <p:sp>
        <p:nvSpPr>
          <p:cNvPr id="45" name="Text 33"/>
          <p:cNvSpPr/>
          <p:nvPr/>
        </p:nvSpPr>
        <p:spPr>
          <a:xfrm>
            <a:off x="4606975" y="4110782"/>
            <a:ext cx="404090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8</a:t>
            </a:r>
            <a:endParaRPr lang="en-US" sz="2150" dirty="0"/>
          </a:p>
        </p:txBody>
      </p:sp>
      <p:sp>
        <p:nvSpPr>
          <p:cNvPr id="46" name="Text 34"/>
          <p:cNvSpPr/>
          <p:nvPr/>
        </p:nvSpPr>
        <p:spPr>
          <a:xfrm>
            <a:off x="4606975" y="4469457"/>
            <a:ext cx="404090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Technologies</a:t>
            </a:r>
            <a:endParaRPr lang="en-US" sz="800" dirty="0"/>
          </a:p>
        </p:txBody>
      </p:sp>
      <p:sp>
        <p:nvSpPr>
          <p:cNvPr id="47" name="Text 35"/>
          <p:cNvSpPr/>
          <p:nvPr/>
        </p:nvSpPr>
        <p:spPr>
          <a:xfrm>
            <a:off x="4606975" y="4633243"/>
            <a:ext cx="4040907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Selected &amp; ratified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3948"/>
            <a:ext cx="706636" cy="167878"/>
          </a:xfrm>
          <a:prstGeom prst="roundRect">
            <a:avLst>
              <a:gd name="adj" fmla="val 3404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62347" y="427062"/>
            <a:ext cx="1031379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CARD 10 OF 10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01117"/>
            <a:ext cx="8151763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10 &amp; 11. Challenges Encountered &amp; Solutions Adopted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416570" y="1093961"/>
            <a:ext cx="4100215" cy="3655516"/>
          </a:xfrm>
          <a:prstGeom prst="roundRect">
            <a:avLst>
              <a:gd name="adj" fmla="val 156"/>
            </a:avLst>
          </a:prstGeom>
          <a:solidFill>
            <a:srgbClr val="151617"/>
          </a:solidFill>
          <a:ln/>
        </p:spPr>
      </p:sp>
      <p:sp>
        <p:nvSpPr>
          <p:cNvPr id="6" name="Text 4"/>
          <p:cNvSpPr/>
          <p:nvPr/>
        </p:nvSpPr>
        <p:spPr>
          <a:xfrm>
            <a:off x="527000" y="1192337"/>
            <a:ext cx="387935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Challenges Encountered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7000" y="1475631"/>
            <a:ext cx="1890489" cy="9179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8868" y="1600349"/>
            <a:ext cx="1583903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Defining a project scope that is both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ambitious and achievable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within the available timeframe.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5865" y="1475631"/>
            <a:ext cx="1890489" cy="9179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733" y="1600349"/>
            <a:ext cx="1583903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Selecting an appropriate combination of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GIS, remote sensing, and machine learning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technologies.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7000" y="2491978"/>
            <a:ext cx="1890489" cy="9179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8868" y="2616696"/>
            <a:ext cx="1583903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Designing a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modular architecture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capable of accommodating future enhancements.</a:t>
            </a:r>
            <a:endParaRPr lang="en-US" sz="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15865" y="2491978"/>
            <a:ext cx="1890489" cy="9179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697733" y="2616696"/>
            <a:ext cx="1583903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Understanding the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complete UHI analysis workflow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before implementation.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4711526" y="1192337"/>
            <a:ext cx="394111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Solutions Adopted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711526" y="1475631"/>
            <a:ext cx="248543" cy="248543"/>
          </a:xfrm>
          <a:prstGeom prst="roundRect">
            <a:avLst>
              <a:gd name="adj" fmla="val 229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3970" dir="2700000">
              <a:srgbClr val="151617">
                <a:alpha val="100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4752975" y="1496355"/>
            <a:ext cx="165646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058445" y="1513582"/>
            <a:ext cx="3594199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Independent Functional Modules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5058445" y="1784598"/>
            <a:ext cx="3594199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project was divided into independent functional modules to manage complexity.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4711526" y="2315617"/>
            <a:ext cx="248543" cy="248543"/>
          </a:xfrm>
          <a:prstGeom prst="roundRect">
            <a:avLst>
              <a:gd name="adj" fmla="val 229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3970" dir="2700000">
              <a:srgbClr val="151617">
                <a:alpha val="10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4752975" y="2336341"/>
            <a:ext cx="165646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058445" y="2353568"/>
            <a:ext cx="3594199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Phased Development Strategy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5058445" y="2624584"/>
            <a:ext cx="3594199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phased strategy was adopted, prioritizing data infrastructure before analytical models.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711526" y="3155603"/>
            <a:ext cx="248543" cy="248543"/>
          </a:xfrm>
          <a:prstGeom prst="roundRect">
            <a:avLst>
              <a:gd name="adj" fmla="val 229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3970" dir="2700000">
              <a:srgbClr val="151617">
                <a:alpha val="10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4752975" y="3176327"/>
            <a:ext cx="165646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058445" y="3193554"/>
            <a:ext cx="3594199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Open-Source Geospatial Stack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058445" y="3464570"/>
            <a:ext cx="3594199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Open-source technologies with strong geospatial support were selected.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4711526" y="3995589"/>
            <a:ext cx="248543" cy="248543"/>
          </a:xfrm>
          <a:prstGeom prst="roundRect">
            <a:avLst>
              <a:gd name="adj" fmla="val 229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3970" dir="2700000">
              <a:srgbClr val="151617">
                <a:alpha val="10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4752975" y="4016313"/>
            <a:ext cx="165646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058445" y="4033540"/>
            <a:ext cx="3594199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Service-Oriented Architecture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058445" y="4304556"/>
            <a:ext cx="3594199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service-oriented architecture was designed to improve maintainability and scalability.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2026-08-07T04:27:25Z</dcterms:created>
  <dcterms:modified xsi:type="dcterms:W3CDTF">2026-08-07T04:27:25Z</dcterms:modified>
</cp:coreProperties>
</file>